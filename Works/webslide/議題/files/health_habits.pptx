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0"/>
            <a:ext cx="54864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914400"/>
            <a:ext cx="3657600" cy="3657600"/>
          </a:xfrm>
          <a:prstGeom prst="oval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286000"/>
            <a:ext cx="2286000" cy="2286000"/>
          </a:xfrm>
          <a:prstGeom prst="oval">
            <a:avLst/>
          </a:prstGeom>
          <a:solidFill>
            <a:srgbClr val="F18F01">
              <a:alpha val="15000"/>
            </a:srgbClr>
          </a:solidFill>
          <a:ln w="12700">
            <a:solidFill>
              <a:srgbClr val="F18F01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「頑張りすぎ」から抜け出す！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「3つの健康」で作る新しい習慣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肉体・精神・社会の3要素で、無理なくやりたいことに全力で挑戦できる生活を作る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383280"/>
            <a:ext cx="1554480" cy="36576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肉体的健康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3383280"/>
            <a:ext cx="1554480" cy="365760"/>
          </a:xfrm>
          <a:prstGeom prst="rect">
            <a:avLst/>
          </a:prstGeom>
          <a:solidFill>
            <a:srgbClr val="A23B72">
              <a:alpha val="70000"/>
            </a:srgbClr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精神的健康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1554480" cy="365760"/>
          </a:xfrm>
          <a:prstGeom prst="rect">
            <a:avLst/>
          </a:prstGeom>
          <a:solidFill>
            <a:srgbClr val="F18F01">
              <a:alpha val="70000"/>
            </a:srgbClr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社会的健康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7788"/>
                </a:solidFill>
              </a:rPr>
              <a:t>習慣のきっかけを小さく、自己一致させることが長続きの鍵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 / 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【導入】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「健康」とは？ — WHO の定義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548640"/>
            <a:ext cx="54864" cy="4389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640080"/>
            <a:ext cx="38404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71600"/>
            <a:ext cx="4114800" cy="1005840"/>
          </a:xfrm>
          <a:prstGeom prst="rect">
            <a:avLst/>
          </a:prstGeom>
          <a:solidFill>
            <a:srgbClr val="1A2A40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</a:rPr>
              <a:t>単に病気でない状態ではない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「肉体的」「精神的」「社会的」すべてが満たされた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ポジティブな状態 — World Health Organization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4114800" cy="594360"/>
          </a:xfrm>
          <a:prstGeom prst="rect">
            <a:avLst/>
          </a:prstGeom>
          <a:solidFill>
            <a:srgbClr val="1A2840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💪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78992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肉体的健康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体が生き生きしていること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27832"/>
            <a:ext cx="4114800" cy="594360"/>
          </a:xfrm>
          <a:prstGeom prst="rect">
            <a:avLst/>
          </a:prstGeom>
          <a:solidFill>
            <a:srgbClr val="1A284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273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78992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</a:rPr>
              <a:t>精神的健康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8992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心が前向きであること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895344"/>
            <a:ext cx="4114800" cy="59436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9410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78992" y="3941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</a:rPr>
              <a:t>社会的健康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78992" y="4197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人間関係・役割が良好であること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10896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「不足している」ものを書き出す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3つの分野それぞれで、今の自分に「不足している」と感じるものを1つずつ書き出してみてください。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2286000"/>
          </a:xfrm>
          <a:prstGeom prst="rect">
            <a:avLst/>
          </a:prstGeom>
          <a:solidFill>
            <a:srgbClr val="1A2840"/>
          </a:solidFill>
          <a:ln w="19050">
            <a:solidFill>
              <a:srgbClr val="2E86A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💪 肉体的健康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468880" cy="45720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7788"/>
                </a:solidFill>
              </a:rPr>
              <a:t>（ここに書く）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651760" cy="2286000"/>
          </a:xfrm>
          <a:prstGeom prst="rect">
            <a:avLst/>
          </a:prstGeom>
          <a:solidFill>
            <a:srgbClr val="1A2840"/>
          </a:solidFill>
          <a:ln w="19050">
            <a:solidFill>
              <a:srgbClr val="A23B7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3B72"/>
                </a:solidFill>
              </a:rPr>
              <a:t>🧠 精神的健康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468880" cy="45720"/>
          </a:xfrm>
          <a:prstGeom prst="rect">
            <a:avLst/>
          </a:prstGeom>
          <a:solidFill>
            <a:srgbClr val="A23B72">
              <a:alpha val="50000"/>
            </a:srgbClr>
          </a:solidFill>
          <a:ln w="12700">
            <a:solidFill>
              <a:srgbClr val="A23B72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7788"/>
                </a:solidFill>
              </a:rPr>
              <a:t>（ここに書く）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423160"/>
            <a:ext cx="2651760" cy="228600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</a:rPr>
              <a:t>🤝 社会的健康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2468880" cy="45720"/>
          </a:xfrm>
          <a:prstGeom prst="rect">
            <a:avLst/>
          </a:prstGeom>
          <a:solidFill>
            <a:srgbClr val="F18F01">
              <a:alpha val="50000"/>
            </a:srgbClr>
          </a:solidFill>
          <a:ln w="12700">
            <a:solidFill>
              <a:srgbClr val="F18F0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7788"/>
                </a:solidFill>
              </a:rPr>
              <a:t>（ここに書く）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</a:rPr>
              <a:t>→ それらが今日、自身が解決すべき課題です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【肉体的健康】休養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早寝早起きの極意 — 起きる時間より「寝る段取り」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850392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749040"/>
            <a:ext cx="8503920" cy="502920"/>
          </a:xfrm>
          <a:prstGeom prst="rect">
            <a:avLst/>
          </a:prstGeom>
          <a:solidFill>
            <a:srgbClr val="1A2840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3935"/>
                </a:solidFill>
              </a:rPr>
              <a:t>❌  失敗パターン：起きる時間だけ決めて、寝る段取りを決めない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✅  極意：目標起床時間から逆算して、夕食・入浴の時刻を具体的に設計する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【肉体的健康】休養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戦略的な「空白の時間」が記憶定着を変える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41148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280160"/>
            <a:ext cx="4206240" cy="91440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280160"/>
            <a:ext cx="54864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53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脳は無意識に情報を取り込む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664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</a:rPr>
              <a:t>感情に紐づく記憶ほど強く定着する。楽しい動画は勉強内容より優先記憶される。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2331720"/>
            <a:ext cx="4206240" cy="91440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2331720"/>
            <a:ext cx="54864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04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5分の空白が効く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715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</a:rPr>
              <a:t>勉強直後にYouTubeを見るのではなく、まず5分だけ「何もしない」時間を作る。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0040" y="3383280"/>
            <a:ext cx="4206240" cy="91440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3383280"/>
            <a:ext cx="54864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一言振り返り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3767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</a:rPr>
              <a:t>学習内容を一言でまとめるだけでも、脳内の情報整理が促進される。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【肉体的健康】食事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「いつ食べるか」が「何を食べるか」より重要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548640"/>
            <a:ext cx="54864" cy="43891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1005840"/>
            <a:ext cx="3931920" cy="1828800"/>
          </a:xfrm>
          <a:prstGeom prst="rect">
            <a:avLst/>
          </a:prstGeom>
          <a:solidFill>
            <a:srgbClr val="1A1A05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: 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断食法 — 8時間の食事窓で脂肪燃焼が促進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時間栄養学 (Chrononutrition)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3017520"/>
            <a:ext cx="1828800" cy="128016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🕛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</a:rPr>
              <a:t>12:00〜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食事開始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017520"/>
            <a:ext cx="1828800" cy="1280160"/>
          </a:xfrm>
          <a:prstGeom prst="rect">
            <a:avLst/>
          </a:prstGeom>
          <a:solidFill>
            <a:srgbClr val="1A2840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</a:rPr>
              <a:t>〜20:00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食事終了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417320"/>
            <a:ext cx="256032" cy="256032"/>
          </a:xfrm>
          <a:prstGeom prst="oval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3898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消化は多くの臓器を動かすため、想像以上にエネルギーを消費する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194560"/>
            <a:ext cx="256032" cy="256032"/>
          </a:xfrm>
          <a:prstGeom prst="oval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1671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適度な空腹感は集中力を高める（研究で示されている）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56032" cy="256032"/>
          </a:xfrm>
          <a:prstGeom prst="oval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443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まず夕食を20時までに済ませることを小さな実験として試してみる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【肉体的健康】運動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気合ではなく「仕組み」で運動を習慣にする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82880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447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思考力・創造力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ウォーキング中は脳の血流が増加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ジョブズは歩き会議を実践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371600"/>
            <a:ext cx="2651760" cy="182880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4447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☀️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セロトニン分泌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4871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朝日を浴びることで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幸福ホルモンが活性化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2651760" cy="182880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4447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❤️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8076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体力・免疫力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4871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有酸素運動は免疫機能を高め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病気リスクを低減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83280"/>
            <a:ext cx="8503920" cy="1417320"/>
          </a:xfrm>
          <a:prstGeom prst="rect">
            <a:avLst/>
          </a:prstGeom>
          <a:solidFill>
            <a:srgbClr val="0D201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</a:rPr>
              <a:t>習慣化の極意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85876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「今の自分がやっていたか？」と問いかける。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「頑張っている」と感じる行動はまだ自分のアイデンティティーではない。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まずは「着替えてシューズを履くだけ」という最小単位から始める。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【肉体的健康】習慣化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意思の力 vs アイデンティティーベースの習慣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25880"/>
            <a:ext cx="850392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206240"/>
            <a:ext cx="4114800" cy="685800"/>
          </a:xfrm>
          <a:prstGeom prst="rect">
            <a:avLst/>
          </a:prstGeom>
          <a:solidFill>
            <a:srgbClr val="200800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❌ 意思のみ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72768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やる気の波で燃え尽き→三日坊主の自己認識→挑戦しなくなる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4206240"/>
            <a:ext cx="4114800" cy="685800"/>
          </a:xfrm>
          <a:prstGeom prst="rect">
            <a:avLst/>
          </a:prstGeom>
          <a:solidFill>
            <a:srgbClr val="0A2008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✅ アイデンティティー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James Clear — 「自分はこういう人間」から逆算する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肉体的課題への「頑張らない」解決策を考える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先ほど書き出した肉体的健康の課題に対して、「10分以内でできる」解決策を考えてください。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01168" cy="201168"/>
          </a:xfrm>
          <a:prstGeom prst="oval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41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8"/>
                </a:solidFill>
              </a:rPr>
              <a:t>「頑張っている」と感じない → 今の自分でも当然できるレベルに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01168" cy="201168"/>
          </a:xfrm>
          <a:prstGeom prst="oval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529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8"/>
                </a:solidFill>
              </a:rPr>
              <a:t>起きる時間→夕食・入浴の時刻の逆算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01168" cy="201168"/>
          </a:xfrm>
          <a:prstGeom prst="oval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644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788"/>
                </a:solidFill>
              </a:rPr>
              <a:t>「着替えてシューズを履くだけ」のような最小単位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1A2840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私の解決策：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【精神的健康】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「自己効力感」— 自分ならできると信じる力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548640"/>
            <a:ext cx="54864" cy="438912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321040" cy="1097280"/>
          </a:xfrm>
          <a:prstGeom prst="rect">
            <a:avLst/>
          </a:prstGeom>
          <a:solidFill>
            <a:srgbClr val="1A0A2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371600" y="1444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3B72"/>
                </a:solidFill>
              </a:rPr>
              <a:t>なぜ「やる気が出ない」のか？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</a:rPr>
              <a:t>自己効力感が低下すると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</a:rPr>
              <a:t>「どうせ無理」「めんどくさい」という壁が生まれ、行動を起こせなくなる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023360" cy="1737360"/>
          </a:xfrm>
          <a:prstGeom prst="rect">
            <a:avLst/>
          </a:prstGeom>
          <a:solidFill>
            <a:srgbClr val="1A2840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54864" cy="17373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❌ 怠けや性格の問題？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多くの人がそう思い込んでしまう。しかし実際には性格ではなく、過去の経験による「学習」の結果。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4023360" cy="1737360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651760"/>
            <a:ext cx="54864" cy="17373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43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</a:rPr>
              <a:t>✅ 「学習性無気力」の問題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1272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Seligman (1967) — 回避不能なストレスの繰り返しが、「変えられない」という学習を生む。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139696" cy="292608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【精神的健康】学習性無気力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「やる気がない」は学習された状態 — Seligman 1967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45720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188720"/>
            <a:ext cx="3657600" cy="804672"/>
          </a:xfrm>
          <a:prstGeom prst="rect">
            <a:avLst/>
          </a:prstGeom>
          <a:solidFill>
            <a:srgbClr val="1A2840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0" y="1261872"/>
            <a:ext cx="420624" cy="420624"/>
          </a:xfrm>
          <a:prstGeom prst="oval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05856" y="126187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回避不能なストレスに直面する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20640" y="2148840"/>
            <a:ext cx="3657600" cy="804672"/>
          </a:xfrm>
          <a:prstGeom prst="rect">
            <a:avLst/>
          </a:prstGeom>
          <a:solidFill>
            <a:srgbClr val="1A2840"/>
          </a:solidFill>
          <a:ln w="19050">
            <a:solidFill>
              <a:srgbClr val="8E24A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221992"/>
            <a:ext cx="420624" cy="420624"/>
          </a:xfrm>
          <a:prstGeom prst="oval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05856" y="222199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「何をしても変わらない」経験を繰り返す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3108960"/>
            <a:ext cx="3657600" cy="804672"/>
          </a:xfrm>
          <a:prstGeom prst="rect">
            <a:avLst/>
          </a:prstGeom>
          <a:solidFill>
            <a:srgbClr val="1A284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3182112"/>
            <a:ext cx="420624" cy="420624"/>
          </a:xfrm>
          <a:prstGeom prst="oval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05856" y="31821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「行動と結果は無関係」と脳が学習する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20640" y="4069080"/>
            <a:ext cx="3657600" cy="804672"/>
          </a:xfrm>
          <a:prstGeom prst="rect">
            <a:avLst/>
          </a:prstGeom>
          <a:solidFill>
            <a:srgbClr val="1A2840"/>
          </a:solidFill>
          <a:ln w="19050">
            <a:solidFill>
              <a:srgbClr val="3747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4142232"/>
            <a:ext cx="420624" cy="420624"/>
          </a:xfrm>
          <a:prstGeom prst="oval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05856" y="41422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状況が改善されても諦め、行動しなくなる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120640" y="5029200"/>
            <a:ext cx="3657600" cy="640080"/>
          </a:xfrm>
          <a:prstGeom prst="rect">
            <a:avLst/>
          </a:prstGeom>
          <a:solidFill>
            <a:srgbClr val="0D201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0" y="5074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</a:rPr>
              <a:t>→ アイデンティティーを変えることで脱出できる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139696" cy="292608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【精神的健康】記憶の仕組み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「わかる」≠「できる」— 別の記憶機能が担っている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85039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10102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</a:rPr>
              <a:t>「わかっているのにできない」は脳の構造上 当然のこと。恥ずかしくも怠けでもない。経験の積み重ねで「できる」へ。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75104" cy="292608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【精神的健康】自己効力感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自己効力感を育てる 2ステップ — Bandura 1977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85039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892040"/>
            <a:ext cx="8503920" cy="365760"/>
          </a:xfrm>
          <a:prstGeom prst="rect">
            <a:avLst/>
          </a:prstGeom>
          <a:solidFill>
            <a:srgbClr val="050A1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919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繰り返しの小さな達成経験が、脳の「自分にはできる」という自己認識を書き換えていく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23B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精神的課題への「最小アクション」を考える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1A284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29968"/>
            <a:ext cx="457200" cy="457200"/>
          </a:xfrm>
          <a:prstGeom prst="oval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029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8"/>
                </a:solidFill>
              </a:rPr>
              <a:t>精神的健康の課題を確認する（ワーク①で書いたもの）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1A284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44368"/>
            <a:ext cx="457200" cy="457200"/>
          </a:xfrm>
          <a:prstGeom prst="oval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29443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8"/>
                </a:solidFill>
              </a:rPr>
              <a:t>理想の状態を思い浮かべる — どんな自分でいたいか？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1A284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858768"/>
            <a:ext cx="457200" cy="457200"/>
          </a:xfrm>
          <a:prstGeom prst="oval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38587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8"/>
                </a:solidFill>
              </a:rPr>
              <a:t>「これなら絶対に失敗しようがない」最小のアクションを決める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solidFill>
            <a:srgbClr val="1A284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365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</a:rPr>
              <a:t>→ 「頑張っている」と感じない、今の自分に馴染む行動を選ぶ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【社会的健康】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同じ作業でも「意味の捉え方」で充実感は変わる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200400"/>
          </a:xfrm>
          <a:prstGeom prst="rect">
            <a:avLst/>
          </a:prstGeom>
          <a:solidFill>
            <a:srgbClr val="1A2840"/>
          </a:solidFill>
          <a:ln w="19050">
            <a:solidFill>
              <a:srgbClr val="3747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😑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AAA4"/>
                </a:solidFill>
              </a:rPr>
              <a:t>1人目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468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"「見ればわかるだろ。レンガを積んでいるんだ。親方の命令でね」"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2468880" cy="256032"/>
          </a:xfrm>
          <a:prstGeom prst="rect">
            <a:avLst/>
          </a:prstGeom>
          <a:solidFill>
            <a:srgbClr val="37474F">
              <a:alpha val="70000"/>
            </a:srgbClr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ジョブ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3200400"/>
          </a:xfrm>
          <a:prstGeom prst="rect">
            <a:avLst/>
          </a:prstGeom>
          <a:solidFill>
            <a:srgbClr val="1A2840"/>
          </a:solidFill>
          <a:ln w="19050">
            <a:solidFill>
              <a:srgbClr val="4E34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😐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AAA4"/>
                </a:solidFill>
              </a:rPr>
              <a:t>2人目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633472"/>
            <a:ext cx="2468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"「カネを稼いでいるのさ。この仕事で家族を養える」"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37560" y="4251960"/>
            <a:ext cx="2468880" cy="256032"/>
          </a:xfrm>
          <a:prstGeom prst="rect">
            <a:avLst/>
          </a:prstGeom>
          <a:solidFill>
            <a:srgbClr val="4E342E">
              <a:alpha val="70000"/>
            </a:srgbClr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4251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キャリア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743200" cy="3200400"/>
          </a:xfrm>
          <a:prstGeom prst="rect">
            <a:avLst/>
          </a:prstGeom>
          <a:solidFill>
            <a:srgbClr val="1A2840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🌟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D6A7"/>
                </a:solidFill>
              </a:rPr>
              <a:t>3人目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633472"/>
            <a:ext cx="24688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D8E8"/>
                </a:solidFill>
              </a:rPr>
              <a:t>"「歴史に残る大聖堂を造っているんだ！ここは多くの人の祈りの場になる」"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2468880" cy="256032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251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コーリング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10101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8F01"/>
                </a:solidFill>
              </a:rPr>
              <a:t>3人は全員「同じ作業」をしている。違いは意味の捉え方だけ → ジョブ・クラフティングで誰でも変えられる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【社会的健康】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ジョブ / 趣味 / キャリア / コーリング — 4象限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4114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051560"/>
            <a:ext cx="4114800" cy="868680"/>
          </a:xfrm>
          <a:prstGeom prst="rect">
            <a:avLst/>
          </a:prstGeom>
          <a:solidFill>
            <a:srgbClr val="1A2840"/>
          </a:solidFill>
          <a:ln w="19050">
            <a:solidFill>
              <a:srgbClr val="3747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8032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ジョブ（左下）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28032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好きでも目的もない「やらされ仕事」。心身ともに消耗する。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057400"/>
            <a:ext cx="4114800" cy="868680"/>
          </a:xfrm>
          <a:prstGeom prst="rect">
            <a:avLst/>
          </a:prstGeom>
          <a:solidFill>
            <a:srgbClr val="1A284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趣味（左上）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28032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好きで楽しいが目的がない。自分の精神的健康は満たされる。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3063240"/>
            <a:ext cx="4114800" cy="868680"/>
          </a:xfrm>
          <a:prstGeom prst="rect">
            <a:avLst/>
          </a:prstGeom>
          <a:solidFill>
            <a:srgbClr val="1A2840"/>
          </a:solidFill>
          <a:ln w="19050">
            <a:solidFill>
              <a:srgbClr val="4E34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3063240"/>
            <a:ext cx="54864" cy="86868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キャリア（右下）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28032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成果・成長という目的はある。しかし長続きすると心が疲弊。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4069080"/>
            <a:ext cx="4114800" cy="868680"/>
          </a:xfrm>
          <a:prstGeom prst="rect">
            <a:avLst/>
          </a:prstGeom>
          <a:solidFill>
            <a:srgbClr val="1A284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4069080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コーリング（右上）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28032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好き × 目的 = 天職・使命。精神的・社会的健康が同時に満たされる理想の状態。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962656" cy="2926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【社会的健康】ジョブ・クラフティング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「ジョブ」を「コーリング」に変える3つのアプローチ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788"/>
                </a:solidFill>
              </a:rPr>
              <a:t>Wrzesniewski et al. (1997) ミシガン大学 — 主体的な関わり方の変更で仕事の意味と満足感は高まる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91640"/>
            <a:ext cx="85039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983480"/>
            <a:ext cx="8503920" cy="347472"/>
          </a:xfrm>
          <a:prstGeom prst="rect">
            <a:avLst/>
          </a:prstGeom>
          <a:solidFill>
            <a:srgbClr val="0A0A0A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8F01"/>
                </a:solidFill>
              </a:rPr>
              <a:t>作業前に問いかける：「どうやったら楽しめる？（好きを足す）」「誰を喜ばせるためにやる？（目的を足す）」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【社会的健康】補足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どうしても嫌な時 — 「断る」より「提案する」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548640"/>
            <a:ext cx="54864" cy="43891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solidFill>
            <a:srgbClr val="200A0A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935"/>
                </a:solidFill>
              </a:rPr>
              <a:t>❌ 関係を壊す断り方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3840480" cy="27432"/>
          </a:xfrm>
          <a:prstGeom prst="rect">
            <a:avLst/>
          </a:prstGeom>
          <a:solidFill>
            <a:srgbClr val="E53935">
              <a:alpha val="60000"/>
            </a:srgbClr>
          </a:solidFill>
          <a:ln w="12700">
            <a:solidFill>
              <a:srgbClr val="E53935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93392"/>
            <a:ext cx="38404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「できません」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「無理です」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（選択肢なし、関係が傷つく）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2560320"/>
          </a:xfrm>
          <a:prstGeom prst="rect">
            <a:avLst/>
          </a:prstGeom>
          <a:solidFill>
            <a:srgbClr val="0A2010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</a:rPr>
              <a:t>✅ 関係を守る提案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83480" y="1901952"/>
            <a:ext cx="3840480" cy="27432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993392"/>
            <a:ext cx="38404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「この条件ならできます」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「彼なら適任です（代替案）」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</a:rPr>
              <a:t>（相手に選択肢を残す）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196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7788"/>
                </a:solidFill>
              </a:rPr>
              <a:t>vs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321040" cy="77724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8F01"/>
                </a:solidFill>
              </a:rPr>
              <a:t>🔑 関係性を維持しながら自分を守る原則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「突き放す」のではなく「提案する」。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この一言の違いが長期的な信頼関係を築く。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8F0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社会的課題への「行動指針」を作る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組織の中の悩みに対して「Aが起こったらBをする」という行動指針を作成してください。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8412480" cy="68580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42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</a:rPr>
              <a:t>A：頼まれた作業が苦痛な時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34840" y="25420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8F01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542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AF50"/>
                </a:solidFill>
              </a:rPr>
              <a:t>B：「誰のためか」を一言で再定義する（認知クラフティング）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273552"/>
            <a:ext cx="8412480" cy="68580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46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</a:rPr>
              <a:t>A：作業を断りたい時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33467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8F01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346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AF50"/>
                </a:solidFill>
              </a:rPr>
              <a:t>B：「できません」→「この条件ならできます」に変換する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078224"/>
            <a:ext cx="8412480" cy="68580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51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E8"/>
                </a:solidFill>
              </a:rPr>
              <a:t>A：関係が無機質に感じる時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34840" y="41513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8F01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4151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AF50"/>
                </a:solidFill>
              </a:rPr>
              <a:t>B：「ありがとう」「楽しかった」を一言加える（人間関係C）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solidFill>
            <a:srgbClr val="1A2840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109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</a:rPr>
              <a:t>自分の「A→B」を書いてみてください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【まとめ】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習慣の本質 — 行動の「入り口」を設計する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850392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023360"/>
            <a:ext cx="8503920" cy="329184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🎯  習慣＝行動そのものではなく、行動の「きっかけ」にある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4389120"/>
            <a:ext cx="8503920" cy="329184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🔗  きっかけ→行動は連鎖（ドミノ倒し）で自動的に繋がる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4754880"/>
            <a:ext cx="8503920" cy="329184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🚫  阻害要因を先に排除することで「気合ゼロ」でも動き出せる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明日から始める「習慣のきっかけ」を1つ決める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知識で終わらせず、実行に移す。それが最も重要なステップです。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F50"/>
                </a:solidFill>
              </a:rPr>
              <a:t>目標（どんな自分になりたいか）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24912"/>
            <a:ext cx="8321040" cy="438912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64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F50"/>
                </a:solidFill>
              </a:rPr>
              <a:t>きっかけ（何をしたら始まるか）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321040" cy="438912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05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AF50"/>
                </a:solidFill>
              </a:rPr>
              <a:t>最小アクション（10分以内でできること）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407408"/>
            <a:ext cx="8321040" cy="438912"/>
          </a:xfrm>
          <a:prstGeom prst="rect">
            <a:avLst/>
          </a:prstGeom>
          <a:solidFill>
            <a:srgbClr val="1A284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074920"/>
            <a:ext cx="8321040" cy="228600"/>
          </a:xfrm>
          <a:prstGeom prst="rect">
            <a:avLst/>
          </a:prstGeom>
          <a:solidFill>
            <a:srgbClr val="0A1A0A"/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023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</a:rPr>
              <a:t>→ 隣の人と共有してフィードバックをもらおう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4CAF50">
              <a:alpha val="8000"/>
            </a:srgbClr>
          </a:solidFill>
          <a:ln w="12700">
            <a:solidFill>
              <a:srgbClr val="4CAF5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oval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いつからでも、人は変われる。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脳の高速道路は、今日から作り始めることができる。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8E8"/>
                </a:solidFill>
              </a:rPr>
              <a:t>無理をせず、小さな一歩から始めていきましょう。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468880" cy="1188720"/>
          </a:xfrm>
          <a:prstGeom prst="rect">
            <a:avLst/>
          </a:prstGeom>
          <a:solidFill>
            <a:srgbClr val="1A2840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肉体的健康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段取り・食事時間・最小運動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3291840"/>
            <a:ext cx="2468880" cy="1188720"/>
          </a:xfrm>
          <a:prstGeom prst="rect">
            <a:avLst/>
          </a:prstGeom>
          <a:solidFill>
            <a:srgbClr val="1A2840"/>
          </a:solidFill>
          <a:ln w="19050">
            <a:solidFill>
              <a:srgbClr val="A2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23B72"/>
                </a:solidFill>
              </a:rPr>
              <a:t>精神的健康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小さな達成 × 自己効力感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2468880" cy="1188720"/>
          </a:xfrm>
          <a:prstGeom prst="rect">
            <a:avLst/>
          </a:prstGeom>
          <a:solidFill>
            <a:srgbClr val="1A284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8F01"/>
                </a:solidFill>
              </a:rPr>
              <a:t>社会的健康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ジョブ・クラフティング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7788"/>
                </a:solidFill>
              </a:rPr>
              <a:t>ありがとうございました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「頑張りすぎ」から抜け出す！3つの健康で作る新しい習慣</dc:title>
  <dc:subject>PptxGenJS Presentation</dc:subject>
  <dc:creator>PptxGenJS</dc:creator>
  <cp:lastModifiedBy>PptxGenJS</cp:lastModifiedBy>
  <cp:revision>1</cp:revision>
  <dcterms:created xsi:type="dcterms:W3CDTF">2026-02-27T10:01:47Z</dcterms:created>
  <dcterms:modified xsi:type="dcterms:W3CDTF">2026-02-27T10:01:47Z</dcterms:modified>
</cp:coreProperties>
</file>